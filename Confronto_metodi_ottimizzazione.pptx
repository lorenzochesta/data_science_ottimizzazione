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78" r:id="rId6"/>
    <p:sldId id="279" r:id="rId7"/>
    <p:sldId id="280" r:id="rId8"/>
    <p:sldId id="261" r:id="rId9"/>
    <p:sldId id="281" r:id="rId10"/>
    <p:sldId id="282" r:id="rId11"/>
    <p:sldId id="283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7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319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543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159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748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23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661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8151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661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100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104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872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FF2AD-B0B7-43CF-8B79-942FCE115EB2}" type="datetimeFigureOut">
              <a:rPr lang="it-IT" smtClean="0"/>
              <a:t>29/08/2026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DADF7-F93E-4D4A-9CFC-632D063C1E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359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DC8347-3BE4-1008-00E6-396416CF3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982456" cy="2387600"/>
          </a:xfrm>
        </p:spPr>
        <p:txBody>
          <a:bodyPr>
            <a:normAutofit/>
          </a:bodyPr>
          <a:lstStyle/>
          <a:p>
            <a:r>
              <a:rPr lang="it-IT" sz="4400">
                <a:solidFill>
                  <a:schemeClr val="accent1"/>
                </a:solidFill>
              </a:rPr>
              <a:t>Confronto di Metodi di Ottimizzazione per la Classificazione Binaria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300B2EA2-E35C-F286-7B21-6874E71DF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6813"/>
            <a:ext cx="9144000" cy="1655762"/>
          </a:xfrm>
        </p:spPr>
        <p:txBody>
          <a:bodyPr>
            <a:normAutofit/>
          </a:bodyPr>
          <a:lstStyle/>
          <a:p>
            <a:r>
              <a:rPr lang="it-IT" sz="2000"/>
              <a:t>Lorenzo Chesta</a:t>
            </a:r>
          </a:p>
        </p:txBody>
      </p:sp>
    </p:spTree>
    <p:extLst>
      <p:ext uri="{BB962C8B-B14F-4D97-AF65-F5344CB8AC3E}">
        <p14:creationId xmlns:p14="http://schemas.microsoft.com/office/powerpoint/2010/main" val="169471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BDF4B1-7202-9AEA-3BD7-34E70B43A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6656"/>
            <a:ext cx="10515600" cy="550030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it-IT">
                <a:solidFill>
                  <a:schemeClr val="accent1"/>
                </a:solidFill>
              </a:rPr>
              <a:t>Dataset</a:t>
            </a:r>
          </a:p>
          <a:p>
            <a:pPr>
              <a:lnSpc>
                <a:spcPct val="150000"/>
              </a:lnSpc>
            </a:pPr>
            <a:r>
              <a:rPr lang="it-IT">
                <a:solidFill>
                  <a:schemeClr val="accent1"/>
                </a:solidFill>
              </a:rPr>
              <a:t>Preprocessing</a:t>
            </a:r>
          </a:p>
          <a:p>
            <a:pPr>
              <a:lnSpc>
                <a:spcPct val="150000"/>
              </a:lnSpc>
            </a:pPr>
            <a:r>
              <a:rPr lang="it-IT">
                <a:solidFill>
                  <a:schemeClr val="accent1"/>
                </a:solidFill>
              </a:rPr>
              <a:t>Modello</a:t>
            </a:r>
          </a:p>
          <a:p>
            <a:pPr>
              <a:lnSpc>
                <a:spcPct val="150000"/>
              </a:lnSpc>
            </a:pPr>
            <a:r>
              <a:rPr lang="it-IT">
                <a:solidFill>
                  <a:schemeClr val="accent1"/>
                </a:solidFill>
              </a:rPr>
              <a:t>Loss function</a:t>
            </a:r>
          </a:p>
          <a:p>
            <a:pPr>
              <a:lnSpc>
                <a:spcPct val="150000"/>
              </a:lnSpc>
            </a:pPr>
            <a:r>
              <a:rPr lang="it-IT">
                <a:solidFill>
                  <a:schemeClr val="accent1"/>
                </a:solidFill>
              </a:rPr>
              <a:t>Gradient Descent, SGD, Newton</a:t>
            </a:r>
          </a:p>
          <a:p>
            <a:pPr>
              <a:lnSpc>
                <a:spcPct val="150000"/>
              </a:lnSpc>
            </a:pPr>
            <a:r>
              <a:rPr lang="it-IT">
                <a:solidFill>
                  <a:schemeClr val="accent1"/>
                </a:solidFill>
              </a:rPr>
              <a:t>Considerazioni finali</a:t>
            </a:r>
          </a:p>
        </p:txBody>
      </p:sp>
    </p:spTree>
    <p:extLst>
      <p:ext uri="{BB962C8B-B14F-4D97-AF65-F5344CB8AC3E}">
        <p14:creationId xmlns:p14="http://schemas.microsoft.com/office/powerpoint/2010/main" val="271394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57D34D-1BCE-D697-9E4B-D4935D84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91BC76-BB49-A070-72F8-A065CAF8F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it-IT" sz="2400"/>
              <a:t>Breast Cancer Wisconsin (Diagnostic) Dataset:</a:t>
            </a:r>
          </a:p>
          <a:p>
            <a:pPr algn="just">
              <a:lnSpc>
                <a:spcPct val="150000"/>
              </a:lnSpc>
            </a:pPr>
            <a:r>
              <a:rPr lang="it-IT" sz="2400"/>
              <a:t>rappresenta un </a:t>
            </a:r>
            <a:r>
              <a:rPr lang="it-IT" sz="2400" b="1"/>
              <a:t>problema reale</a:t>
            </a:r>
          </a:p>
          <a:p>
            <a:pPr lvl="1" algn="just">
              <a:lnSpc>
                <a:spcPct val="150000"/>
              </a:lnSpc>
            </a:pPr>
            <a:r>
              <a:rPr lang="it-IT" sz="2000"/>
              <a:t>ogni campione è un prelievo di agoaspirato classificato come ‘Malignant’ o ‘Benign’</a:t>
            </a:r>
          </a:p>
          <a:p>
            <a:pPr lvl="1" algn="just">
              <a:lnSpc>
                <a:spcPct val="150000"/>
              </a:lnSpc>
            </a:pPr>
            <a:r>
              <a:rPr lang="it-IT" sz="2000"/>
              <a:t>212 ‘M’, 357 ‘B’</a:t>
            </a:r>
          </a:p>
          <a:p>
            <a:pPr algn="just">
              <a:lnSpc>
                <a:spcPct val="150000"/>
              </a:lnSpc>
            </a:pPr>
            <a:r>
              <a:rPr lang="it-IT" sz="2400"/>
              <a:t>dataset </a:t>
            </a:r>
            <a:r>
              <a:rPr lang="it-IT" sz="2400" b="1"/>
              <a:t>semplice</a:t>
            </a:r>
          </a:p>
          <a:p>
            <a:pPr lvl="1" algn="just">
              <a:lnSpc>
                <a:spcPct val="150000"/>
              </a:lnSpc>
            </a:pPr>
            <a:r>
              <a:rPr lang="it-IT" sz="2000"/>
              <a:t>le differenze nei risultati sono attribuite principalmente ai metodi di ottimizzazione piuttosto che alla complessità del modello</a:t>
            </a:r>
          </a:p>
        </p:txBody>
      </p:sp>
    </p:spTree>
    <p:extLst>
      <p:ext uri="{BB962C8B-B14F-4D97-AF65-F5344CB8AC3E}">
        <p14:creationId xmlns:p14="http://schemas.microsoft.com/office/powerpoint/2010/main" val="231769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5290C-15E4-11D7-BF65-500EAB78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E75194-EFAB-9409-FECF-75F9AEC4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Preprocessing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061E962-72CA-1E54-F1F9-3EDC1AB448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it-IT" sz="2400" b="0">
                    <a:latin typeface="Calibri (Corpo)"/>
                  </a:rPr>
                  <a:t>Standardizzazione: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it-IT" sz="2400"/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/>
                  <a:t>: valore della feature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t-IT" sz="24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it-IT" sz="2400"/>
                  <a:t>: media dei valori della feature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it-IT" sz="2400"/>
                  <a:t>: deviazione standard dei valori della feature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it-IT" sz="2400"/>
                  <a:t>: valore della feature standardizzato (media 0, deviazione standard 1)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061E962-72CA-1E54-F1F9-3EDC1AB44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2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450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E8AD-D016-DB10-C82E-F69A4190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E32E8E-B5D0-8D6C-8385-715695B04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Preprocessing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F39ED8-F8D4-DF74-2582-8F841B870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it-IT" sz="2400" b="0">
                <a:latin typeface="Calibri (Corpo)"/>
              </a:rPr>
              <a:t>Standardizzazione:</a:t>
            </a:r>
          </a:p>
          <a:p>
            <a:pPr algn="just">
              <a:lnSpc>
                <a:spcPct val="150000"/>
              </a:lnSpc>
            </a:pPr>
            <a:r>
              <a:rPr lang="it-IT" sz="2400" b="0">
                <a:latin typeface="Calibri (Corpo)"/>
              </a:rPr>
              <a:t>problema </a:t>
            </a:r>
            <a:r>
              <a:rPr lang="it-IT" sz="2400" b="1">
                <a:latin typeface="Calibri (Corpo)"/>
              </a:rPr>
              <a:t>ben condizionato</a:t>
            </a:r>
          </a:p>
          <a:p>
            <a:pPr lvl="1" algn="just">
              <a:lnSpc>
                <a:spcPct val="150000"/>
              </a:lnSpc>
            </a:pPr>
            <a:r>
              <a:rPr lang="it-IT" sz="2000" b="0">
                <a:latin typeface="Calibri (Corpo)"/>
              </a:rPr>
              <a:t>riduce le oscillazioni e accelera la convergenza dei metodi basati sul gradiente</a:t>
            </a:r>
          </a:p>
          <a:p>
            <a:pPr algn="just">
              <a:lnSpc>
                <a:spcPct val="150000"/>
              </a:lnSpc>
            </a:pPr>
            <a:r>
              <a:rPr lang="it-IT" sz="2400">
                <a:latin typeface="Calibri (Corpo)"/>
              </a:rPr>
              <a:t>porta le feature su una </a:t>
            </a:r>
            <a:r>
              <a:rPr lang="it-IT" sz="2400" b="1">
                <a:latin typeface="Calibri (Corpo)"/>
              </a:rPr>
              <a:t>scala comune</a:t>
            </a:r>
          </a:p>
          <a:p>
            <a:pPr lvl="1" algn="just">
              <a:lnSpc>
                <a:spcPct val="150000"/>
              </a:lnSpc>
            </a:pPr>
            <a:r>
              <a:rPr lang="it-IT" sz="2000">
                <a:latin typeface="Calibri (Corpo)"/>
              </a:rPr>
              <a:t>evita che la discesa del gradiente risenta eccessivamente della diversità degli ordini di grandezza</a:t>
            </a:r>
          </a:p>
        </p:txBody>
      </p:sp>
    </p:spTree>
    <p:extLst>
      <p:ext uri="{BB962C8B-B14F-4D97-AF65-F5344CB8AC3E}">
        <p14:creationId xmlns:p14="http://schemas.microsoft.com/office/powerpoint/2010/main" val="16233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BDCED-E98D-AEA8-DB4C-FCD84401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29721B-163E-02BE-43FB-A1426A10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Modello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917420A-442C-E037-5136-0820A006D1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it-IT" sz="2400"/>
                  <a:t>Logistic Regression:</a:t>
                </a: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it-IT" sz="2400"/>
                  <a:t>Calcola una combinazione lineare delle feature: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 …+ 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it-IT" sz="2400"/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it-IT" sz="2400"/>
                  <a:t>trasforma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it-IT" sz="2400"/>
                  <a:t> in una probabilità tramite la Sigmoide: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it-IT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t-IT" sz="2400"/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it-IT" sz="2400"/>
                  <a:t>applica una soglia (es. 0.5) per ottenere la classe predetta.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917420A-442C-E037-5136-0820A006D1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69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DD680-DB8F-3870-A9E9-6E91F7B8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F30C37-B94E-F96C-0992-242D08A9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Modello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A3B4EB-CB28-73F4-2EDC-3DA454560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it-IT" sz="2400"/>
              <a:t>Logistic Regression:</a:t>
            </a:r>
          </a:p>
          <a:p>
            <a:pPr algn="just">
              <a:lnSpc>
                <a:spcPct val="150000"/>
              </a:lnSpc>
            </a:pPr>
            <a:r>
              <a:rPr lang="it-IT" sz="2400" b="1"/>
              <a:t>interpretabile</a:t>
            </a:r>
            <a:r>
              <a:rPr lang="it-IT" sz="2400"/>
              <a:t>: non fornisce solo un’etichetta, ma stima una probabilità;</a:t>
            </a:r>
          </a:p>
          <a:p>
            <a:pPr algn="just">
              <a:lnSpc>
                <a:spcPct val="150000"/>
              </a:lnSpc>
            </a:pPr>
            <a:r>
              <a:rPr lang="it-IT" sz="2400" b="1"/>
              <a:t>semplice</a:t>
            </a:r>
            <a:r>
              <a:rPr lang="it-IT" sz="2400"/>
              <a:t>: permette di evidenziare il confronto tra i metodi di ottimizzazione;</a:t>
            </a:r>
          </a:p>
          <a:p>
            <a:pPr algn="just">
              <a:lnSpc>
                <a:spcPct val="150000"/>
              </a:lnSpc>
            </a:pPr>
            <a:r>
              <a:rPr lang="it-IT" sz="2400"/>
              <a:t>richiede una rappresentazione numerica delle feature in input</a:t>
            </a:r>
          </a:p>
          <a:p>
            <a:pPr lvl="1" algn="just">
              <a:lnSpc>
                <a:spcPct val="150000"/>
              </a:lnSpc>
            </a:pPr>
            <a:r>
              <a:rPr lang="it-IT" sz="2000"/>
              <a:t>le feature del dataset sono già numeriche, per cui non sono necessarie codifiche (es. OHE)</a:t>
            </a:r>
          </a:p>
        </p:txBody>
      </p:sp>
    </p:spTree>
    <p:extLst>
      <p:ext uri="{BB962C8B-B14F-4D97-AF65-F5344CB8AC3E}">
        <p14:creationId xmlns:p14="http://schemas.microsoft.com/office/powerpoint/2010/main" val="80997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40259-F7AA-67EB-4D07-49D334C2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443589-1CDE-D7B8-CDAB-C099D9040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Loss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5CF6AF1-0B94-7CC4-791E-60A33C764B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it-IT" sz="2400"/>
                  <a:t>Binary Cross-Entropy: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=−[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it-IT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it-IT" sz="240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it-IT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sz="2400"/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400"/>
                  <a:t>: etichetta reale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400"/>
                  <a:t>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d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400"/>
                  <a:t>) predetta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400"/>
                  <a:t>: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it-IT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400"/>
                  <a:t>)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5CF6AF1-0B94-7CC4-791E-60A33C764B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28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2233C-0881-B021-C79C-B1A1751A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739DD9-A3BC-7B99-17A0-AFC7582D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Loss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EDF3B2A-7E58-624D-BCA5-1B2D3EFFC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it-IT" sz="2400"/>
                  <a:t>La BCE non misura solo l’errore commesso, ma anche la </a:t>
                </a:r>
                <a:r>
                  <a:rPr lang="it-IT" sz="2400" b="1"/>
                  <a:t>confidenza</a:t>
                </a:r>
                <a:r>
                  <a:rPr lang="it-IT" sz="2400"/>
                  <a:t> del modello sulla predizione. Ad esempio,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sz="2400"/>
                  <a:t>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it-IT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it-IT"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/>
              </a:p>
              <a:p>
                <a:pPr algn="just">
                  <a:lnSpc>
                    <a:spcPct val="150000"/>
                  </a:lnSpc>
                </a:pPr>
                <a:r>
                  <a:rPr lang="it-IT" sz="240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40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2400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it-IT" sz="2400"/>
                  <a:t>: il modello è molto «sicuro» che la classe sia 1, per cui la penalizzazione è minima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it-IT" sz="2400"/>
                  <a:t>);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it-IT" sz="240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24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it-IT" sz="2400"/>
                  <a:t>, il modello è molto «sicuro» che la classe sia 0, per cui viene fortemente penalizzato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400"/>
                  <a:t> </a:t>
                </a:r>
                <a14:m>
                  <m:oMath xmlns:m="http://schemas.openxmlformats.org/officeDocument/2006/math">
                    <m:r>
                      <a:rPr lang="it-IT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it-IT" sz="2400"/>
                  <a:t>).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EDF3B2A-7E58-624D-BCA5-1B2D3EFFC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8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6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1B55-EE72-592A-3B76-0B32FA90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6E6D12-CC77-CF72-9ED0-25C64E09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Loss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54E2E76-5619-E8ED-4868-0D0ADED3F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it-IT" sz="2400"/>
                  <a:t>Minimizzare la BCE equivale a trovare i parametri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it-IT" sz="2400"/>
                  <a:t> che permettono al modello di effettuare le predizioni probabilistiche il più possibile coerenti con i campioni osservati: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it-IT" sz="240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sz="2400"/>
                  <a:t>, vogliamo che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40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lang="it-IT" sz="2400"/>
                  <a:t>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it-IT" sz="240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it-IT" sz="2400"/>
                  <a:t>, vogliamo che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24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it-IT" sz="2400"/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54E2E76-5619-E8ED-4868-0D0ADED3F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8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32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D9F8-1185-C606-704D-60F47A41C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610652-3D84-1811-C951-327E5B41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Loss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BDA0D75-2F0F-EC7D-C5FF-1F96F6928A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it-IT" sz="2400" b="1"/>
                  <a:t>Il problema di classificazione binaria viene formulato come un problema di ottimizzazione: trovare i parametri </a:t>
                </a:r>
                <a14:m>
                  <m:oMath xmlns:m="http://schemas.openxmlformats.org/officeDocument/2006/math">
                    <m:r>
                      <a:rPr lang="it-IT" sz="2400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it-IT" sz="2400" b="1"/>
                  <a:t> che minimizzano la BCE </a:t>
                </a:r>
                <a:r>
                  <a:rPr lang="it-IT" sz="2400"/>
                  <a:t>(funzione obiettivo);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it-IT" sz="2400"/>
                  <a:t>i metodi Gradient Descent, SGD e Newton cercano di risolvere questo problema attraverso strategie diverse.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BDA0D75-2F0F-EC7D-C5FF-1F96F6928A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8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133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CD4B-CA92-6E43-2D5B-64545589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9032EB-CEA0-7AF2-B121-82B68D57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Gradient Descent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E5A490BF-1D65-8675-4E1F-4E669386C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0460" y="2544264"/>
            <a:ext cx="4831080" cy="1020324"/>
          </a:xfrm>
          <a:prstGeom prst="rect">
            <a:avLst/>
          </a:prstGeom>
        </p:spPr>
      </p:pic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63851686-031E-E253-8759-8DA19C0D967B}"/>
              </a:ext>
            </a:extLst>
          </p:cNvPr>
          <p:cNvSpPr/>
          <p:nvPr/>
        </p:nvSpPr>
        <p:spPr>
          <a:xfrm>
            <a:off x="8107682" y="1991201"/>
            <a:ext cx="2756914" cy="730147"/>
          </a:xfrm>
          <a:prstGeom prst="wedgeRectCallout">
            <a:avLst>
              <a:gd name="adj1" fmla="val -42376"/>
              <a:gd name="adj2" fmla="val 77583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Calcola il gradiente </a:t>
            </a:r>
            <a:r>
              <a:rPr lang="it-IT" sz="1400" b="1">
                <a:solidFill>
                  <a:schemeClr val="tx1"/>
                </a:solidFill>
              </a:rPr>
              <a:t>sull’intero training set</a:t>
            </a:r>
            <a:r>
              <a:rPr lang="it-IT" sz="14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41126752-A7DD-D500-5F46-E6A2B2C7033B}"/>
              </a:ext>
            </a:extLst>
          </p:cNvPr>
          <p:cNvSpPr/>
          <p:nvPr/>
        </p:nvSpPr>
        <p:spPr>
          <a:xfrm>
            <a:off x="1249680" y="3355848"/>
            <a:ext cx="2750820" cy="662071"/>
          </a:xfrm>
          <a:prstGeom prst="wedgeRectCallout">
            <a:avLst>
              <a:gd name="adj1" fmla="val 50138"/>
              <a:gd name="adj2" fmla="val -75231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… e aggiorna i pesi una volta sola.</a:t>
            </a:r>
          </a:p>
        </p:txBody>
      </p:sp>
    </p:spTree>
    <p:extLst>
      <p:ext uri="{BB962C8B-B14F-4D97-AF65-F5344CB8AC3E}">
        <p14:creationId xmlns:p14="http://schemas.microsoft.com/office/powerpoint/2010/main" val="240482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01A8-1B54-E8E1-E163-C9F5D0F9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0022EF-CD30-54EC-5709-1C760D2B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695C03F-5918-A4A0-C849-609A0ABF0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t-IT" sz="2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it-IT" sz="2400"/>
                  <a:t>, 100 epoche: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695C03F-5918-A4A0-C849-609A0ABF0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8CB51EE0-CDA6-B54A-FBEB-EA9ABABA7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996" y="2822748"/>
            <a:ext cx="5862008" cy="3670127"/>
          </a:xfrm>
          <a:prstGeom prst="rect">
            <a:avLst/>
          </a:prstGeom>
        </p:spPr>
      </p:pic>
      <p:sp>
        <p:nvSpPr>
          <p:cNvPr id="4" name="Fumetto: rettangolo 3">
            <a:extLst>
              <a:ext uri="{FF2B5EF4-FFF2-40B4-BE49-F238E27FC236}">
                <a16:creationId xmlns:a16="http://schemas.microsoft.com/office/drawing/2014/main" id="{D90F76AB-AB90-278B-CAED-30253AC286F7}"/>
              </a:ext>
            </a:extLst>
          </p:cNvPr>
          <p:cNvSpPr/>
          <p:nvPr/>
        </p:nvSpPr>
        <p:spPr>
          <a:xfrm>
            <a:off x="1103376" y="997727"/>
            <a:ext cx="2764536" cy="850917"/>
          </a:xfrm>
          <a:prstGeom prst="wedgeRectCallout">
            <a:avLst>
              <a:gd name="adj1" fmla="val -19714"/>
              <a:gd name="adj2" fmla="val 6601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Comunemente adottato come valore di partenza nei metodi di discesa del gradiente</a:t>
            </a:r>
          </a:p>
        </p:txBody>
      </p:sp>
      <p:sp>
        <p:nvSpPr>
          <p:cNvPr id="6" name="Fumetto: rettangolo 5">
            <a:extLst>
              <a:ext uri="{FF2B5EF4-FFF2-40B4-BE49-F238E27FC236}">
                <a16:creationId xmlns:a16="http://schemas.microsoft.com/office/drawing/2014/main" id="{B01DD1EF-54C3-DF49-E9BE-D7F3A59E25A3}"/>
              </a:ext>
            </a:extLst>
          </p:cNvPr>
          <p:cNvSpPr/>
          <p:nvPr/>
        </p:nvSpPr>
        <p:spPr>
          <a:xfrm>
            <a:off x="1314274" y="2481246"/>
            <a:ext cx="2069006" cy="850917"/>
          </a:xfrm>
          <a:prstGeom prst="wedgeRectCallout">
            <a:avLst>
              <a:gd name="adj1" fmla="val -19383"/>
              <a:gd name="adj2" fmla="val -64008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In questo problema garantisce una convergenza stabile</a:t>
            </a:r>
          </a:p>
        </p:txBody>
      </p:sp>
    </p:spTree>
    <p:extLst>
      <p:ext uri="{BB962C8B-B14F-4D97-AF65-F5344CB8AC3E}">
        <p14:creationId xmlns:p14="http://schemas.microsoft.com/office/powerpoint/2010/main" val="324427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3D03-C760-CB8B-0C37-2A98D96F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81169E-A6FA-9D45-8860-4BAC0159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Stochastic Gradient Descent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071EE0-E2A5-34F0-15DA-FC16A5C67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it-IT" sz="2400"/>
              <a:t>Caso «estremo» (</a:t>
            </a:r>
            <a:r>
              <a:rPr lang="it-IT" sz="2400" i="1"/>
              <a:t>1 esempio</a:t>
            </a:r>
            <a:r>
              <a:rPr lang="it-IT" sz="2400"/>
              <a:t>):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 sz="240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7DBF593-0038-2F2D-25E0-2EC12A08A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299" y="2993462"/>
            <a:ext cx="4537402" cy="2383210"/>
          </a:xfrm>
          <a:prstGeom prst="rect">
            <a:avLst/>
          </a:prstGeom>
        </p:spPr>
      </p:pic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190AC98A-D251-42AD-B1D3-D03267BF771A}"/>
              </a:ext>
            </a:extLst>
          </p:cNvPr>
          <p:cNvSpPr/>
          <p:nvPr/>
        </p:nvSpPr>
        <p:spPr>
          <a:xfrm>
            <a:off x="7157200" y="2690032"/>
            <a:ext cx="1886216" cy="471924"/>
          </a:xfrm>
          <a:prstGeom prst="wedgeRectCallout">
            <a:avLst>
              <a:gd name="adj1" fmla="val -42376"/>
              <a:gd name="adj2" fmla="val 77583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Shuffle degli esempi</a:t>
            </a: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D4E523F7-D989-7521-2A77-FCA564D31A62}"/>
              </a:ext>
            </a:extLst>
          </p:cNvPr>
          <p:cNvSpPr/>
          <p:nvPr/>
        </p:nvSpPr>
        <p:spPr>
          <a:xfrm>
            <a:off x="2249425" y="3429000"/>
            <a:ext cx="1630926" cy="429768"/>
          </a:xfrm>
          <a:prstGeom prst="wedgeRectCallout">
            <a:avLst>
              <a:gd name="adj1" fmla="val 68334"/>
              <a:gd name="adj2" fmla="val 22324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>
                <a:solidFill>
                  <a:schemeClr val="tx1"/>
                </a:solidFill>
              </a:rPr>
              <a:t>Per ogni esempio</a:t>
            </a:r>
            <a:r>
              <a:rPr lang="it-IT" sz="14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0" name="Fumetto: rettangolo 9">
            <a:extLst>
              <a:ext uri="{FF2B5EF4-FFF2-40B4-BE49-F238E27FC236}">
                <a16:creationId xmlns:a16="http://schemas.microsoft.com/office/drawing/2014/main" id="{1B3297DA-9612-8E2E-64B2-C70C5E1A7172}"/>
              </a:ext>
            </a:extLst>
          </p:cNvPr>
          <p:cNvSpPr/>
          <p:nvPr/>
        </p:nvSpPr>
        <p:spPr>
          <a:xfrm>
            <a:off x="7421593" y="3858768"/>
            <a:ext cx="1886216" cy="562261"/>
          </a:xfrm>
          <a:prstGeom prst="wedgeRectCallout">
            <a:avLst>
              <a:gd name="adj1" fmla="val -42376"/>
              <a:gd name="adj2" fmla="val 77583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…calcola il gradiente </a:t>
            </a:r>
            <a:r>
              <a:rPr lang="it-IT" sz="1400" b="1">
                <a:solidFill>
                  <a:schemeClr val="tx1"/>
                </a:solidFill>
              </a:rPr>
              <a:t>su quell’esempio</a:t>
            </a:r>
            <a:r>
              <a:rPr lang="it-IT" sz="14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64F78ADA-1860-9DF7-5F65-0BBDAEADDA8C}"/>
              </a:ext>
            </a:extLst>
          </p:cNvPr>
          <p:cNvSpPr/>
          <p:nvPr/>
        </p:nvSpPr>
        <p:spPr>
          <a:xfrm>
            <a:off x="2929295" y="4306986"/>
            <a:ext cx="1503199" cy="310733"/>
          </a:xfrm>
          <a:prstGeom prst="wedgeRectCallout">
            <a:avLst>
              <a:gd name="adj1" fmla="val 55123"/>
              <a:gd name="adj2" fmla="val 1101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…e aggiorna i pesi</a:t>
            </a:r>
          </a:p>
        </p:txBody>
      </p:sp>
    </p:spTree>
    <p:extLst>
      <p:ext uri="{BB962C8B-B14F-4D97-AF65-F5344CB8AC3E}">
        <p14:creationId xmlns:p14="http://schemas.microsoft.com/office/powerpoint/2010/main" val="18139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2C15-3246-D308-D35A-652D8381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5FEF78-58CA-4D98-8D6F-4E401457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Stochastic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95C620E-5AA6-B283-B401-59FBE9A940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t-IT" sz="2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it-IT" sz="2400"/>
                  <a:t>, 100 epoche: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95C620E-5AA6-B283-B401-59FBE9A940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A7D3D97A-9A6C-056E-87D8-30F4E27F63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9" b="-1"/>
          <a:stretch>
            <a:fillRect/>
          </a:stretch>
        </p:blipFill>
        <p:spPr>
          <a:xfrm>
            <a:off x="3101400" y="2774857"/>
            <a:ext cx="5989200" cy="371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2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A168-3707-59CB-A70E-5EA7BB81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510A83-FE89-6A89-7C7F-AC4354A2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Stochastic Gradient Descent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28D3B2-368A-7063-090F-77CF2B49F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it-IT" sz="2400"/>
              <a:t>Caso </a:t>
            </a:r>
            <a:r>
              <a:rPr lang="it-IT" sz="2400" i="1"/>
              <a:t>mini-batch</a:t>
            </a:r>
            <a:r>
              <a:rPr lang="it-IT" sz="240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 sz="24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B3ADC7C-F6EA-BA78-7E33-A2E3B0FCB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294" y="2724988"/>
            <a:ext cx="4865411" cy="3282407"/>
          </a:xfrm>
          <a:prstGeom prst="rect">
            <a:avLst/>
          </a:prstGeom>
        </p:spPr>
      </p:pic>
      <p:sp>
        <p:nvSpPr>
          <p:cNvPr id="6" name="Fumetto: rettangolo 5">
            <a:extLst>
              <a:ext uri="{FF2B5EF4-FFF2-40B4-BE49-F238E27FC236}">
                <a16:creationId xmlns:a16="http://schemas.microsoft.com/office/drawing/2014/main" id="{6463A5AF-3A2C-3677-5F3F-785885ABDE53}"/>
              </a:ext>
            </a:extLst>
          </p:cNvPr>
          <p:cNvSpPr/>
          <p:nvPr/>
        </p:nvSpPr>
        <p:spPr>
          <a:xfrm>
            <a:off x="7263525" y="2590051"/>
            <a:ext cx="1886216" cy="471924"/>
          </a:xfrm>
          <a:prstGeom prst="wedgeRectCallout">
            <a:avLst>
              <a:gd name="adj1" fmla="val -42798"/>
              <a:gd name="adj2" fmla="val 9443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Shuffle degli esempi</a:t>
            </a:r>
          </a:p>
        </p:txBody>
      </p:sp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108759AC-9BEE-305B-F641-AA4D26A8B3C2}"/>
              </a:ext>
            </a:extLst>
          </p:cNvPr>
          <p:cNvSpPr/>
          <p:nvPr/>
        </p:nvSpPr>
        <p:spPr>
          <a:xfrm>
            <a:off x="2032368" y="3936423"/>
            <a:ext cx="1630926" cy="429768"/>
          </a:xfrm>
          <a:prstGeom prst="wedgeRectCallout">
            <a:avLst>
              <a:gd name="adj1" fmla="val 68334"/>
              <a:gd name="adj2" fmla="val 22324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>
                <a:solidFill>
                  <a:schemeClr val="tx1"/>
                </a:solidFill>
              </a:rPr>
              <a:t>Per ogni batch</a:t>
            </a:r>
            <a:r>
              <a:rPr lang="it-IT" sz="14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A5BAD554-1FC7-8D40-C088-90C164B40BE3}"/>
              </a:ext>
            </a:extLst>
          </p:cNvPr>
          <p:cNvSpPr/>
          <p:nvPr/>
        </p:nvSpPr>
        <p:spPr>
          <a:xfrm>
            <a:off x="7531006" y="4447520"/>
            <a:ext cx="1886216" cy="562261"/>
          </a:xfrm>
          <a:prstGeom prst="wedgeRectCallout">
            <a:avLst>
              <a:gd name="adj1" fmla="val -42376"/>
              <a:gd name="adj2" fmla="val 77583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…calcola il gradiente </a:t>
            </a:r>
            <a:r>
              <a:rPr lang="it-IT" sz="1400" b="1">
                <a:solidFill>
                  <a:schemeClr val="tx1"/>
                </a:solidFill>
              </a:rPr>
              <a:t>su quel batch</a:t>
            </a:r>
            <a:r>
              <a:rPr lang="it-IT" sz="14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06F2CE45-2397-3148-2D7C-62FC2056F35D}"/>
              </a:ext>
            </a:extLst>
          </p:cNvPr>
          <p:cNvSpPr/>
          <p:nvPr/>
        </p:nvSpPr>
        <p:spPr>
          <a:xfrm>
            <a:off x="2774777" y="4876059"/>
            <a:ext cx="1503199" cy="310733"/>
          </a:xfrm>
          <a:prstGeom prst="wedgeRectCallout">
            <a:avLst>
              <a:gd name="adj1" fmla="val 55123"/>
              <a:gd name="adj2" fmla="val 1101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…e aggiorna i pesi</a:t>
            </a:r>
          </a:p>
        </p:txBody>
      </p:sp>
    </p:spTree>
    <p:extLst>
      <p:ext uri="{BB962C8B-B14F-4D97-AF65-F5344CB8AC3E}">
        <p14:creationId xmlns:p14="http://schemas.microsoft.com/office/powerpoint/2010/main" val="3350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2F767-713F-931C-E18D-5CB3253A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82A0AE-14E0-2CB8-EE9F-B75E9E5E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Stochastic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443F5FD-9CE5-679A-9E74-9CBDC2418E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it-IT" sz="2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it-IT" sz="2400"/>
                  <a:t>, 100 epoche: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443F5FD-9CE5-679A-9E74-9CBDC2418E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FAEB9A65-CCE5-026A-F5A7-9C44DFDE9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4"/>
          <a:stretch>
            <a:fillRect/>
          </a:stretch>
        </p:blipFill>
        <p:spPr>
          <a:xfrm>
            <a:off x="3138380" y="2640012"/>
            <a:ext cx="5915240" cy="36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5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1ED405-B197-A08F-8FCA-563074CE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Confronto</a:t>
            </a:r>
            <a:endParaRPr lang="it-IT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2744B9F5-3CC1-D24B-6990-FD1A1FD97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310354"/>
              </p:ext>
            </p:extLst>
          </p:nvPr>
        </p:nvGraphicFramePr>
        <p:xfrm>
          <a:off x="838200" y="1616075"/>
          <a:ext cx="10515600" cy="199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9049164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167672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308333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483987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16813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Metodo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Epoche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Loss finale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Tempo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Osservazioni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309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Gradient Descent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0.098281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0.0106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sz="1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Convergenza stabile, ma loss più elevata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36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6"/>
                          </a:solidFill>
                        </a:rPr>
                        <a:t>SGD (1 esempio)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6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6"/>
                          </a:solidFill>
                        </a:rPr>
                        <a:t>0.039103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6"/>
                          </a:solidFill>
                        </a:rPr>
                        <a:t>0.5763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>
                          <a:solidFill>
                            <a:schemeClr val="accent6"/>
                          </a:solidFill>
                        </a:rPr>
                        <a:t>Loss minore, ma convergenza non monotona (rumore)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75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SGD (mini-batch)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0.053149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0.0738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it-IT" sz="14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Miglior compresso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294420"/>
                  </a:ext>
                </a:extLst>
              </a:tr>
            </a:tbl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C8134E87-4861-67A2-C30F-4C6B957E4C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"/>
          <a:stretch>
            <a:fillRect/>
          </a:stretch>
        </p:blipFill>
        <p:spPr>
          <a:xfrm>
            <a:off x="4167298" y="3825856"/>
            <a:ext cx="3857404" cy="283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59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CBDE-D558-AB39-A242-2775204BA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741403-CCA4-1632-4D03-5D152F13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Metodo di Newton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250F750-9945-D593-AED5-3DE39B2F7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803" y="2366495"/>
            <a:ext cx="5958393" cy="1759145"/>
          </a:xfrm>
          <a:prstGeom prst="rect">
            <a:avLst/>
          </a:prstGeom>
        </p:spPr>
      </p:pic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3435EE6C-F6CF-0919-22D5-AF4780049F49}"/>
              </a:ext>
            </a:extLst>
          </p:cNvPr>
          <p:cNvSpPr/>
          <p:nvPr/>
        </p:nvSpPr>
        <p:spPr>
          <a:xfrm>
            <a:off x="8534541" y="2130533"/>
            <a:ext cx="1886216" cy="471924"/>
          </a:xfrm>
          <a:prstGeom prst="wedgeRectCallout">
            <a:avLst>
              <a:gd name="adj1" fmla="val -42798"/>
              <a:gd name="adj2" fmla="val 9443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Calcola il gradiente…</a:t>
            </a:r>
          </a:p>
        </p:txBody>
      </p:sp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B99D2410-8026-2221-22A3-304BDB1E44DE}"/>
              </a:ext>
            </a:extLst>
          </p:cNvPr>
          <p:cNvSpPr/>
          <p:nvPr/>
        </p:nvSpPr>
        <p:spPr>
          <a:xfrm>
            <a:off x="367638" y="2751390"/>
            <a:ext cx="2807208" cy="677610"/>
          </a:xfrm>
          <a:prstGeom prst="wedgeRectCallout">
            <a:avLst>
              <a:gd name="adj1" fmla="val 63059"/>
              <a:gd name="adj2" fmla="val 5108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…calcola l’</a:t>
            </a:r>
            <a:r>
              <a:rPr lang="it-IT" sz="1400" b="1">
                <a:solidFill>
                  <a:schemeClr val="tx1"/>
                </a:solidFill>
              </a:rPr>
              <a:t>Hessiana</a:t>
            </a:r>
            <a:r>
              <a:rPr lang="it-IT" sz="1400">
                <a:solidFill>
                  <a:schemeClr val="tx1"/>
                </a:solidFill>
              </a:rPr>
              <a:t> per ottenere informazioni sulla </a:t>
            </a:r>
            <a:r>
              <a:rPr lang="it-IT" sz="1400" b="1">
                <a:solidFill>
                  <a:schemeClr val="tx1"/>
                </a:solidFill>
              </a:rPr>
              <a:t>curvatura locale</a:t>
            </a:r>
            <a:r>
              <a:rPr lang="it-IT" sz="14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8BB8C759-E8FF-A1A6-6BF3-E56E913BAE58}"/>
              </a:ext>
            </a:extLst>
          </p:cNvPr>
          <p:cNvSpPr/>
          <p:nvPr/>
        </p:nvSpPr>
        <p:spPr>
          <a:xfrm>
            <a:off x="8609549" y="3090195"/>
            <a:ext cx="2921035" cy="677609"/>
          </a:xfrm>
          <a:prstGeom prst="wedgeRectCallout">
            <a:avLst>
              <a:gd name="adj1" fmla="val -107161"/>
              <a:gd name="adj2" fmla="val -690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…calcola la direzione di discesa sfruttando </a:t>
            </a:r>
            <a:r>
              <a:rPr lang="it-IT" sz="1400" b="1">
                <a:solidFill>
                  <a:schemeClr val="tx1"/>
                </a:solidFill>
              </a:rPr>
              <a:t>gradiente ed Hessiana</a:t>
            </a:r>
            <a:r>
              <a:rPr lang="it-IT" sz="140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Fumetto: rettangolo 14">
                <a:extLst>
                  <a:ext uri="{FF2B5EF4-FFF2-40B4-BE49-F238E27FC236}">
                    <a16:creationId xmlns:a16="http://schemas.microsoft.com/office/drawing/2014/main" id="{315C6333-BE2B-C035-02D4-35FACE211ACD}"/>
                  </a:ext>
                </a:extLst>
              </p:cNvPr>
              <p:cNvSpPr/>
              <p:nvPr/>
            </p:nvSpPr>
            <p:spPr>
              <a:xfrm>
                <a:off x="1771242" y="3664962"/>
                <a:ext cx="1491099" cy="460678"/>
              </a:xfrm>
              <a:prstGeom prst="wedgeRectCallout">
                <a:avLst>
                  <a:gd name="adj1" fmla="val 66112"/>
                  <a:gd name="adj2" fmla="val -46016"/>
                </a:avLst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>
                    <a:solidFill>
                      <a:schemeClr val="tx1"/>
                    </a:solidFill>
                  </a:rPr>
                  <a:t>…e aggiorna i pesi (</a:t>
                </a:r>
                <a14:m>
                  <m:oMath xmlns:m="http://schemas.openxmlformats.org/officeDocument/2006/math">
                    <m:r>
                      <a:rPr lang="it-IT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sz="14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Fumetto: rettangolo 14">
                <a:extLst>
                  <a:ext uri="{FF2B5EF4-FFF2-40B4-BE49-F238E27FC236}">
                    <a16:creationId xmlns:a16="http://schemas.microsoft.com/office/drawing/2014/main" id="{315C6333-BE2B-C035-02D4-35FACE211A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242" y="3664962"/>
                <a:ext cx="1491099" cy="460678"/>
              </a:xfrm>
              <a:prstGeom prst="wedgeRectCallout">
                <a:avLst>
                  <a:gd name="adj1" fmla="val 66112"/>
                  <a:gd name="adj2" fmla="val -46016"/>
                </a:avLst>
              </a:prstGeom>
              <a:blipFill>
                <a:blip r:embed="rId3"/>
                <a:stretch>
                  <a:fillRect l="-345" t="-6410" b="-1794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873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50C8-4F53-6D59-6205-D93165BD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EBE712-BAB5-9366-7D2B-8E7C103C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Metodo di Newton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BE70E6-0D30-2DFB-2C71-61062DA23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it-IT" sz="2400"/>
              <a:t>10 iterazioni: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 sz="240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661E267-EFE9-FAE1-F897-5BBF65E2E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1" b="1"/>
          <a:stretch>
            <a:fillRect/>
          </a:stretch>
        </p:blipFill>
        <p:spPr>
          <a:xfrm>
            <a:off x="3214183" y="2674213"/>
            <a:ext cx="5763634" cy="36376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Fumetto: rettangolo 3">
                <a:extLst>
                  <a:ext uri="{FF2B5EF4-FFF2-40B4-BE49-F238E27FC236}">
                    <a16:creationId xmlns:a16="http://schemas.microsoft.com/office/drawing/2014/main" id="{F7313FF1-2994-F5E2-A079-936969C0A71F}"/>
                  </a:ext>
                </a:extLst>
              </p:cNvPr>
              <p:cNvSpPr/>
              <p:nvPr/>
            </p:nvSpPr>
            <p:spPr>
              <a:xfrm>
                <a:off x="537758" y="681036"/>
                <a:ext cx="3247433" cy="1176597"/>
              </a:xfrm>
              <a:prstGeom prst="wedgeRectCallout">
                <a:avLst>
                  <a:gd name="adj1" fmla="val -23525"/>
                  <a:gd name="adj2" fmla="val 62172"/>
                </a:avLst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it-IT" sz="1400">
                    <a:solidFill>
                      <a:schemeClr val="tx1"/>
                    </a:solidFill>
                  </a:rPr>
                  <a:t>Computazionalmente più costoso (informazioni del 2° ordine)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it-IT" sz="1400">
                    <a:solidFill>
                      <a:schemeClr val="tx1"/>
                    </a:solidFill>
                  </a:rPr>
                  <a:t>Converge rapidamente se il punto di partenza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1400">
                    <a:solidFill>
                      <a:schemeClr val="tx1"/>
                    </a:solidFill>
                  </a:rPr>
                  <a:t> è vicino alla soluzione</a:t>
                </a:r>
              </a:p>
            </p:txBody>
          </p:sp>
        </mc:Choice>
        <mc:Fallback>
          <p:sp>
            <p:nvSpPr>
              <p:cNvPr id="4" name="Fumetto: rettangolo 3">
                <a:extLst>
                  <a:ext uri="{FF2B5EF4-FFF2-40B4-BE49-F238E27FC236}">
                    <a16:creationId xmlns:a16="http://schemas.microsoft.com/office/drawing/2014/main" id="{F7313FF1-2994-F5E2-A079-936969C0A7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58" y="681036"/>
                <a:ext cx="3247433" cy="1176597"/>
              </a:xfrm>
              <a:prstGeom prst="wedgeRectCallout">
                <a:avLst>
                  <a:gd name="adj1" fmla="val -23525"/>
                  <a:gd name="adj2" fmla="val 6217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25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36F8EE-FF01-33BD-C096-C6952056C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Metodo di Newton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957BBA-CDAE-5E4E-3FAA-112982D29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it-IT" sz="2000"/>
              <a:t>In sole 10 iterazioni, il Metodo di Newton raggiunge una BCE sul training pari a 0.001983.</a:t>
            </a:r>
          </a:p>
          <a:p>
            <a:pPr algn="just">
              <a:lnSpc>
                <a:spcPct val="100000"/>
              </a:lnSpc>
            </a:pPr>
            <a:r>
              <a:rPr lang="it-IT" sz="2000"/>
              <a:t>Tuttavia, il modello mostra una perdita di capacità di generalizzazione: la BCE sul test cresce, nonostante le buone prestazioni di classificazione.</a:t>
            </a:r>
          </a:p>
          <a:p>
            <a:pPr marL="0" indent="0" algn="just">
              <a:buNone/>
            </a:pPr>
            <a:endParaRPr lang="it-IT" sz="2400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FF3F0D9-F64A-1E3B-7B74-C5DDA44A9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569772"/>
              </p:ext>
            </p:extLst>
          </p:nvPr>
        </p:nvGraphicFramePr>
        <p:xfrm>
          <a:off x="1291588" y="3429000"/>
          <a:ext cx="960882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689">
                  <a:extLst>
                    <a:ext uri="{9D8B030D-6E8A-4147-A177-3AD203B41FA5}">
                      <a16:colId xmlns:a16="http://schemas.microsoft.com/office/drawing/2014/main" val="2923541269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3857476529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1317962718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1227202889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934842352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788895726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3340206842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endParaRPr lang="it-IT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Matrice di confusione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0688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>
                          <a:solidFill>
                            <a:srgbClr val="FF0000"/>
                          </a:solidFill>
                        </a:rPr>
                        <a:t>0.001983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[[170    0]</a:t>
                      </a:r>
                    </a:p>
                    <a:p>
                      <a:pPr algn="ctr"/>
                      <a:r>
                        <a:rPr lang="it-IT" sz="2000"/>
                        <a:t>   [0    285]]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276826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>
                          <a:solidFill>
                            <a:srgbClr val="FF0000"/>
                          </a:solidFill>
                        </a:rPr>
                        <a:t>1.442194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0.8889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[[40    2]</a:t>
                      </a:r>
                    </a:p>
                    <a:p>
                      <a:pPr algn="ctr"/>
                      <a:r>
                        <a:rPr lang="it-IT" sz="2000"/>
                        <a:t>   [8    64]]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832909"/>
                  </a:ext>
                </a:extLst>
              </a:tr>
            </a:tbl>
          </a:graphicData>
        </a:graphic>
      </p:graphicFrame>
      <p:sp>
        <p:nvSpPr>
          <p:cNvPr id="10" name="Fumetto: rettangolo 9">
            <a:extLst>
              <a:ext uri="{FF2B5EF4-FFF2-40B4-BE49-F238E27FC236}">
                <a16:creationId xmlns:a16="http://schemas.microsoft.com/office/drawing/2014/main" id="{E5386F2C-C2CF-76C7-E45E-B0978EA75BBD}"/>
              </a:ext>
            </a:extLst>
          </p:cNvPr>
          <p:cNvSpPr/>
          <p:nvPr/>
        </p:nvSpPr>
        <p:spPr>
          <a:xfrm>
            <a:off x="2125976" y="5950745"/>
            <a:ext cx="3745852" cy="758951"/>
          </a:xfrm>
          <a:prstGeom prst="wedgeRectCallout">
            <a:avLst>
              <a:gd name="adj1" fmla="val -17411"/>
              <a:gd name="adj2" fmla="val -7906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</a:rPr>
              <a:t>L’aumento della BCE sul test è dovuto a predizioni estremamente confidenti su alcuni campioni classificati erroneamente</a:t>
            </a:r>
          </a:p>
        </p:txBody>
      </p:sp>
    </p:spTree>
    <p:extLst>
      <p:ext uri="{BB962C8B-B14F-4D97-AF65-F5344CB8AC3E}">
        <p14:creationId xmlns:p14="http://schemas.microsoft.com/office/powerpoint/2010/main" val="227656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2E81-D3ED-AF55-D99D-8B73C7C7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065220-3090-58E9-B8F4-D2E7CFE5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Metodo di Newton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2144BA-9F54-2161-6578-14ECCBC74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it-IT" sz="2400"/>
              <a:t>Riducendo il numero di iterazioni (ad esempio a 6), si ottiene un miglior compromesso tra minimizzazione della loss sul training e capacità di generalizzazione.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12DB0FD4-80ED-38AC-E7BF-2E4C10A01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040506"/>
              </p:ext>
            </p:extLst>
          </p:nvPr>
        </p:nvGraphicFramePr>
        <p:xfrm>
          <a:off x="1291588" y="3355847"/>
          <a:ext cx="960882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689">
                  <a:extLst>
                    <a:ext uri="{9D8B030D-6E8A-4147-A177-3AD203B41FA5}">
                      <a16:colId xmlns:a16="http://schemas.microsoft.com/office/drawing/2014/main" val="2923541269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3857476529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1317962718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1227202889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934842352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788895726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3340206842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endParaRPr lang="it-IT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Matrice di confusione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0688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>
                          <a:solidFill>
                            <a:schemeClr val="tx1"/>
                          </a:solidFill>
                        </a:rPr>
                        <a:t>0.027557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[[167    3]</a:t>
                      </a:r>
                    </a:p>
                    <a:p>
                      <a:pPr algn="ctr"/>
                      <a:r>
                        <a:rPr lang="it-IT" sz="2000"/>
                        <a:t>   [1    284]]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276826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>
                          <a:solidFill>
                            <a:srgbClr val="0070C0"/>
                          </a:solidFill>
                        </a:rPr>
                        <a:t>0.216318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0.9429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[[40    2]</a:t>
                      </a:r>
                    </a:p>
                    <a:p>
                      <a:pPr algn="ctr"/>
                      <a:r>
                        <a:rPr lang="it-IT" sz="2000"/>
                        <a:t>   [6    66]]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832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626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853EF-8851-CF5D-294C-7C100F62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CD849E-C85E-2105-253C-719B945C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Considerazioni finali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F83500-D542-0541-A269-05AFE939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it-IT" sz="2400"/>
              <a:t>I risultati sperimentali evidenziano la rapida convergenza del metodo di Newton, come mostrato dalla rapida diminuzione della BCE nelle prime iterazioni: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 sz="2000"/>
          </a:p>
          <a:p>
            <a:pPr marL="0" indent="0" algn="just">
              <a:lnSpc>
                <a:spcPct val="150000"/>
              </a:lnSpc>
              <a:buNone/>
            </a:pPr>
            <a:endParaRPr lang="it-IT" sz="2000"/>
          </a:p>
          <a:p>
            <a:pPr marL="0" indent="0" algn="just">
              <a:lnSpc>
                <a:spcPct val="150000"/>
              </a:lnSpc>
              <a:buNone/>
            </a:pPr>
            <a:endParaRPr lang="it-IT" sz="2000"/>
          </a:p>
          <a:p>
            <a:pPr marL="0" indent="0" algn="just">
              <a:lnSpc>
                <a:spcPct val="150000"/>
              </a:lnSpc>
              <a:buNone/>
            </a:pPr>
            <a:endParaRPr lang="it-IT" sz="2000"/>
          </a:p>
          <a:p>
            <a:pPr marL="0" indent="0" algn="just">
              <a:lnSpc>
                <a:spcPct val="150000"/>
              </a:lnSpc>
              <a:buNone/>
            </a:pPr>
            <a:endParaRPr lang="it-IT" sz="2000"/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184B35F0-65EC-9FF1-279B-32495CCB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7"/>
          <a:stretch>
            <a:fillRect/>
          </a:stretch>
        </p:blipFill>
        <p:spPr>
          <a:xfrm>
            <a:off x="3570129" y="3291438"/>
            <a:ext cx="5051741" cy="311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37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30D52-987D-1AA9-49FE-0EEF16C1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C1A59F-5F3C-5BA6-1C68-4F47E75F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accent1"/>
                </a:solidFill>
              </a:rPr>
              <a:t>Considerazioni finali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F7B00B1-1CBF-1B9E-8A5C-7F9A8548C8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it-IT" sz="2400"/>
                  <a:t>Nonostante il metodo di Newton richieda un numero ridotto di iterazioni per convergere, ogni iterazione è computazionalmente più costosa rispetto ai metodi precedenti, perché richiede il calcolo dell’Hessiana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it-IT" sz="2400"/>
                  <a:t> e di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=− </m:t>
                    </m:r>
                    <m:sSup>
                      <m:s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it-IT" sz="2400" smtClean="0"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it-IT" sz="2400"/>
                  <a:t>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it-IT" sz="2400"/>
                  <a:t>In conclusione, la scelta del metodo di ottimizzazione dipende dal </a:t>
                </a:r>
                <a:r>
                  <a:rPr lang="it-IT" sz="2400" b="1"/>
                  <a:t>compromesso</a:t>
                </a:r>
                <a:r>
                  <a:rPr lang="it-IT" sz="2400"/>
                  <a:t> tra </a:t>
                </a:r>
                <a:r>
                  <a:rPr lang="it-IT" sz="2400" b="1"/>
                  <a:t>velocitià di convergenza </a:t>
                </a:r>
                <a:r>
                  <a:rPr lang="it-IT" sz="2400"/>
                  <a:t>e </a:t>
                </a:r>
                <a:r>
                  <a:rPr lang="it-IT" sz="2400" b="1"/>
                  <a:t>costo computazionale </a:t>
                </a:r>
                <a:r>
                  <a:rPr lang="it-IT" sz="2400"/>
                  <a:t>di ogni iterazione.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 sz="240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F7B00B1-1CBF-1B9E-8A5C-7F9A8548C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8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757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9A626-36D3-5B03-86FC-F6E101B4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4C49ED-A3ED-0604-ACDD-C0AEC02B6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982456" cy="2387600"/>
          </a:xfrm>
        </p:spPr>
        <p:txBody>
          <a:bodyPr>
            <a:normAutofit/>
          </a:bodyPr>
          <a:lstStyle/>
          <a:p>
            <a:r>
              <a:rPr lang="it-IT" sz="4400">
                <a:solidFill>
                  <a:schemeClr val="accent1"/>
                </a:solidFill>
              </a:rPr>
              <a:t>Grazie per l’attenzione.</a:t>
            </a:r>
          </a:p>
        </p:txBody>
      </p:sp>
    </p:spTree>
    <p:extLst>
      <p:ext uri="{BB962C8B-B14F-4D97-AF65-F5344CB8AC3E}">
        <p14:creationId xmlns:p14="http://schemas.microsoft.com/office/powerpoint/2010/main" val="162072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656</TotalTime>
  <Words>990</Words>
  <Application>Microsoft Office PowerPoint</Application>
  <PresentationFormat>Widescreen</PresentationFormat>
  <Paragraphs>173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(Corpo)</vt:lpstr>
      <vt:lpstr>Calibri Light</vt:lpstr>
      <vt:lpstr>Cambria Math</vt:lpstr>
      <vt:lpstr>Office 2013 - Tema 2022</vt:lpstr>
      <vt:lpstr>Confronto di Metodi di Ottimizzazione per la Classificazione Binaria</vt:lpstr>
      <vt:lpstr>Presentazione standard di PowerPoint</vt:lpstr>
      <vt:lpstr>Dataset</vt:lpstr>
      <vt:lpstr>Preprocessing</vt:lpstr>
      <vt:lpstr>Preprocessing</vt:lpstr>
      <vt:lpstr>Modello</vt:lpstr>
      <vt:lpstr>Modello</vt:lpstr>
      <vt:lpstr>Loss function</vt:lpstr>
      <vt:lpstr>Loss function</vt:lpstr>
      <vt:lpstr>Loss function</vt:lpstr>
      <vt:lpstr>Loss function</vt:lpstr>
      <vt:lpstr>Gradient Descent</vt:lpstr>
      <vt:lpstr>Gradient Descent</vt:lpstr>
      <vt:lpstr>Stochastic Gradient Descent</vt:lpstr>
      <vt:lpstr>Stochastic Gradient Descent</vt:lpstr>
      <vt:lpstr>Stochastic Gradient Descent</vt:lpstr>
      <vt:lpstr>Stochastic Gradient Descent</vt:lpstr>
      <vt:lpstr>Confronto</vt:lpstr>
      <vt:lpstr>Metodo di Newton</vt:lpstr>
      <vt:lpstr>Metodo di Newton</vt:lpstr>
      <vt:lpstr>Metodo di Newton</vt:lpstr>
      <vt:lpstr>Metodo di Newton</vt:lpstr>
      <vt:lpstr>Considerazioni finali</vt:lpstr>
      <vt:lpstr>Considerazioni finali</vt:lpstr>
      <vt:lpstr>Grazie per l’attenzione.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CHESTA LORENZO</dc:creator>
  <cp:lastModifiedBy>CHESTA LORENZO</cp:lastModifiedBy>
  <cp:revision>35</cp:revision>
  <dcterms:created xsi:type="dcterms:W3CDTF">2026-08-05T14:30:07Z</dcterms:created>
  <dcterms:modified xsi:type="dcterms:W3CDTF">2026-08-29T14:21:02Z</dcterms:modified>
</cp:coreProperties>
</file>